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 strictFirstAndLastChars="0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12192000" cy="6858000"/>
  <p:defaultTextStyle>
    <a:defPPr>
      <a:defRPr lang="en-US"/>
    </a:defPPr>
    <a:lvl1pPr algn="l">
      <a:spcBef>
        <a:spcPts val="0"/>
      </a:spcBef>
      <a:spcAft>
        <a:spcPts val="0"/>
      </a:spcAft>
      <a:buChar char="•"/>
      <a:defRPr sz="2400" b="1">
        <a:solidFill>
          <a:srgbClr val="B9000C"/>
        </a:solidFill>
        <a:latin typeface="Tahoma"/>
        <a:ea typeface="+mn-ea"/>
        <a:cs typeface="+mn-cs"/>
      </a:defRPr>
    </a:lvl1pPr>
    <a:lvl2pPr marL="457200" algn="l">
      <a:spcBef>
        <a:spcPts val="0"/>
      </a:spcBef>
      <a:spcAft>
        <a:spcPts val="0"/>
      </a:spcAft>
      <a:buChar char="•"/>
      <a:defRPr sz="2400" b="1">
        <a:solidFill>
          <a:srgbClr val="B9000C"/>
        </a:solidFill>
        <a:latin typeface="Tahoma"/>
        <a:ea typeface="+mn-ea"/>
        <a:cs typeface="+mn-cs"/>
      </a:defRPr>
    </a:lvl2pPr>
    <a:lvl3pPr marL="914400" algn="l">
      <a:spcBef>
        <a:spcPts val="0"/>
      </a:spcBef>
      <a:spcAft>
        <a:spcPts val="0"/>
      </a:spcAft>
      <a:buChar char="•"/>
      <a:defRPr sz="2400" b="1">
        <a:solidFill>
          <a:srgbClr val="B9000C"/>
        </a:solidFill>
        <a:latin typeface="Tahoma"/>
        <a:ea typeface="+mn-ea"/>
        <a:cs typeface="+mn-cs"/>
      </a:defRPr>
    </a:lvl3pPr>
    <a:lvl4pPr marL="1371600" algn="l">
      <a:spcBef>
        <a:spcPts val="0"/>
      </a:spcBef>
      <a:spcAft>
        <a:spcPts val="0"/>
      </a:spcAft>
      <a:buChar char="•"/>
      <a:defRPr sz="2400" b="1">
        <a:solidFill>
          <a:srgbClr val="B9000C"/>
        </a:solidFill>
        <a:latin typeface="Tahoma"/>
        <a:ea typeface="+mn-ea"/>
        <a:cs typeface="+mn-cs"/>
      </a:defRPr>
    </a:lvl4pPr>
    <a:lvl5pPr marL="1828800" algn="l">
      <a:spcBef>
        <a:spcPts val="0"/>
      </a:spcBef>
      <a:spcAft>
        <a:spcPts val="0"/>
      </a:spcAft>
      <a:buChar char="•"/>
      <a:defRPr sz="2400" b="1">
        <a:solidFill>
          <a:srgbClr val="B9000C"/>
        </a:solidFill>
        <a:latin typeface="Tahoma"/>
        <a:ea typeface="+mn-ea"/>
        <a:cs typeface="+mn-cs"/>
      </a:defRPr>
    </a:lvl5pPr>
    <a:lvl6pPr marL="2286000" algn="l" defTabSz="914400">
      <a:defRPr sz="2400" b="1">
        <a:solidFill>
          <a:srgbClr val="B9000C"/>
        </a:solidFill>
        <a:latin typeface="Tahoma"/>
        <a:ea typeface="+mn-ea"/>
        <a:cs typeface="+mn-cs"/>
      </a:defRPr>
    </a:lvl6pPr>
    <a:lvl7pPr marL="2743200" algn="l" defTabSz="914400">
      <a:defRPr sz="2400" b="1">
        <a:solidFill>
          <a:srgbClr val="B9000C"/>
        </a:solidFill>
        <a:latin typeface="Tahoma"/>
        <a:ea typeface="+mn-ea"/>
        <a:cs typeface="+mn-cs"/>
      </a:defRPr>
    </a:lvl7pPr>
    <a:lvl8pPr marL="3200400" algn="l" defTabSz="914400">
      <a:defRPr sz="2400" b="1">
        <a:solidFill>
          <a:srgbClr val="B9000C"/>
        </a:solidFill>
        <a:latin typeface="Tahoma"/>
        <a:ea typeface="+mn-ea"/>
        <a:cs typeface="+mn-cs"/>
      </a:defRPr>
    </a:lvl8pPr>
    <a:lvl9pPr marL="3657600" algn="l" defTabSz="914400">
      <a:defRPr sz="2400" b="1">
        <a:solidFill>
          <a:srgbClr val="B9000C"/>
        </a:solidFill>
        <a:latin typeface="Tahoma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>
      <p:cViewPr varScale="1">
        <p:scale>
          <a:sx n="93" d="100"/>
          <a:sy n="93" d="100"/>
        </p:scale>
        <p:origin x="2696" y="76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5843" name="Rectangle 3"/>
          <p:cNvSpPr>
            <a:spLocks noChangeArrowheads="1"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196" name="Rectangle 4"/>
          <p:cNvSpPr>
            <a:spLocks noChangeArrowheads="1" noChangeAspect="1" noGrp="1" noRot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ChangeArrowheads="1"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cs-CZ"/>
              <a:t>Klepnutím lze upravit styly předlohy textu.</a:t>
            </a:r>
            <a:endParaRPr/>
          </a:p>
          <a:p>
            <a:pPr lvl="1">
              <a:defRPr/>
            </a:pPr>
            <a:r>
              <a:rPr lang="cs-CZ"/>
              <a:t>Druhá úroveň</a:t>
            </a:r>
            <a:endParaRPr/>
          </a:p>
          <a:p>
            <a:pPr lvl="2">
              <a:defRPr/>
            </a:pPr>
            <a:r>
              <a:rPr lang="cs-CZ"/>
              <a:t>Třetí úroveň</a:t>
            </a:r>
            <a:endParaRPr/>
          </a:p>
          <a:p>
            <a:pPr lvl="3">
              <a:defRPr/>
            </a:pPr>
            <a:r>
              <a:rPr lang="cs-CZ"/>
              <a:t>Čtvrtá úroveň</a:t>
            </a:r>
            <a:endParaRPr/>
          </a:p>
          <a:p>
            <a:pPr lvl="4">
              <a:defRPr/>
            </a:pPr>
            <a:r>
              <a:rPr lang="cs-CZ"/>
              <a:t>Pátá úroveň</a:t>
            </a:r>
            <a:endParaRPr/>
          </a:p>
        </p:txBody>
      </p:sp>
      <p:sp>
        <p:nvSpPr>
          <p:cNvPr id="35846" name="Rectangle 6"/>
          <p:cNvSpPr>
            <a:spLocks noChangeArrowheads="1"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5847" name="Rectangle 7"/>
          <p:cNvSpPr>
            <a:spLocks noChangeArrowheads="1"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  <a:latin typeface="Century Gothic"/>
              </a:defRPr>
            </a:lvl1pPr>
          </a:lstStyle>
          <a:p>
            <a:pPr>
              <a:defRPr/>
            </a:pPr>
            <a:fld id="{511FA9D6-BDC7-4110-B055-029A3A5CC98B}" type="slidenum">
              <a:rPr lang="cs-CZ"/>
              <a:t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>
      <a:spcBef>
        <a:spcPts val="0"/>
      </a:spcBef>
      <a:spcAft>
        <a:spcPts val="0"/>
      </a:spcAft>
      <a:defRPr sz="1200">
        <a:solidFill>
          <a:schemeClr val="tx1"/>
        </a:solidFill>
        <a:latin typeface="Century Gothic"/>
        <a:ea typeface="+mn-ea"/>
        <a:cs typeface="+mn-cs"/>
      </a:defRPr>
    </a:lvl1pPr>
    <a:lvl2pPr marL="457200" algn="l">
      <a:spcBef>
        <a:spcPts val="0"/>
      </a:spcBef>
      <a:spcAft>
        <a:spcPts val="0"/>
      </a:spcAft>
      <a:defRPr sz="1200">
        <a:solidFill>
          <a:schemeClr val="tx1"/>
        </a:solidFill>
        <a:latin typeface="Century Gothic"/>
        <a:ea typeface="+mn-ea"/>
        <a:cs typeface="+mn-cs"/>
      </a:defRPr>
    </a:lvl2pPr>
    <a:lvl3pPr marL="914400" algn="l">
      <a:spcBef>
        <a:spcPts val="0"/>
      </a:spcBef>
      <a:spcAft>
        <a:spcPts val="0"/>
      </a:spcAft>
      <a:defRPr sz="1200">
        <a:solidFill>
          <a:schemeClr val="tx1"/>
        </a:solidFill>
        <a:latin typeface="Century Gothic"/>
        <a:ea typeface="+mn-ea"/>
        <a:cs typeface="+mn-cs"/>
      </a:defRPr>
    </a:lvl3pPr>
    <a:lvl4pPr marL="1371600" algn="l">
      <a:spcBef>
        <a:spcPts val="0"/>
      </a:spcBef>
      <a:spcAft>
        <a:spcPts val="0"/>
      </a:spcAft>
      <a:defRPr sz="1200">
        <a:solidFill>
          <a:schemeClr val="tx1"/>
        </a:solidFill>
        <a:latin typeface="Century Gothic"/>
        <a:ea typeface="+mn-ea"/>
        <a:cs typeface="+mn-cs"/>
      </a:defRPr>
    </a:lvl4pPr>
    <a:lvl5pPr marL="1828800" algn="l">
      <a:spcBef>
        <a:spcPts val="0"/>
      </a:spcBef>
      <a:spcAft>
        <a:spcPts val="0"/>
      </a:spcAft>
      <a:defRPr sz="1200">
        <a:solidFill>
          <a:schemeClr val="tx1"/>
        </a:solidFill>
        <a:latin typeface="Century Gothic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geoportal.cuzk.gov.cz/(S(t2gl5zhecq0iplmxr3yq2ws4))/Default.aspx?lng=CZ&amp;mode=TextMeta&amp;side=ortofoto&amp;metadataID=CZ-CUZK-OI&amp;mapid=83&amp;menu=234" TargetMode="External"/><Relationship Id="rId4" Type="http://schemas.openxmlformats.org/officeDocument/2006/relationships/hyperlink" Target="https://geoportal.cuzk.gov.cz/(S(t2gl5zhecq0iplmxr3yq2ws4))/Default.aspx?mode=TextMeta&amp;side=vyskopis&amp;metadataID=CZ-CUZK-DMR5G-V&amp;head_tab=sekce-02-gp&amp;menu=302" TargetMode="Externa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entury Gothic"/>
                <a:ea typeface="+mn-ea"/>
                <a:cs typeface="+mn-cs"/>
              </a:rPr>
              <a:t>ČUZK = </a:t>
            </a:r>
            <a:r>
              <a:rPr lang="cs-CZ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Český úřad zeměměřický a katastrální</a:t>
            </a:r>
            <a:endParaRPr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cs-CZ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Data:</a:t>
            </a:r>
            <a:endParaRPr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lang="cs-CZ" sz="1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https://geoportal.cuzk.gov.cz/(S(t2gl5zhecq0iplmxr3yq2ws4))/Default.aspx?lng=CZ&amp;mode=TextMeta&amp;side=ortofoto&amp;metadataID=CZ-CUZK-OI&amp;mapid=83&amp;menu=234"/>
              </a:rPr>
              <a:t>https://geoportal.cuzk.gov.cz/(S(t2gl5zhecq0iplmxr3yq2ws4))/Default.aspx?lng=CZ&amp;mode=TextMeta&amp;side=ortofoto&amp;metadataID=CZ-CUZK-OI&amp;mapid=83&amp;menu=234</a:t>
            </a:r>
            <a:endParaRPr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lang="cs-CZ" sz="1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https://geoportal.cuzk.gov.cz/(S(t2gl5zhecq0iplmxr3yq2ws4))/Default.aspx?mode=TextMeta&amp;side=vyskopis&amp;metadataID=CZ-CUZK-DMR5G-V&amp;head_tab=sekce-02-gp&amp;menu=302"/>
              </a:rPr>
              <a:t>h</a:t>
            </a:r>
            <a:r>
              <a:rPr lang="cs-CZ" sz="1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https://geoportal.cuzk.gov.cz/(S(t2gl5zhecq0iplmxr3yq2ws4))/Default.aspx?mode=TextMeta&amp;side=vyskopis&amp;metadataID=CZ-CUZK-DMR5G-V&amp;head_tab=sekce-02-gp&amp;menu=302"/>
              </a:rPr>
              <a:t>ttps://geoportal.cuzk.gov.cz/(S(t2gl5zhecq0iplmxr3yq2ws4))/Default.aspx?mode=TextMeta&amp;side=vyskopis&amp;metadataID=CZ-CUZK-DMR5G-V&amp;head_tab=sekce-02-gp&amp;menu=302</a:t>
            </a:r>
            <a:endParaRPr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1200" b="0"/>
          </a:p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Zlepšení kvality billboardů:</a:t>
            </a:r>
            <a:endParaRPr/>
          </a:p>
          <a:p>
            <a:pPr>
              <a:defRPr/>
            </a:pPr>
            <a:r>
              <a:rPr/>
              <a:t>Billboard = quad s částečně průhlednou texturou.</a:t>
            </a:r>
            <a:endParaRPr/>
          </a:p>
          <a:p>
            <a:pPr>
              <a:defRPr/>
            </a:pPr>
            <a:r>
              <a:rPr/>
              <a:t>=&gt; nutnost vhodně pracovat s průhledností</a:t>
            </a:r>
            <a:endParaRPr/>
          </a:p>
          <a:p>
            <a:pPr>
              <a:defRPr/>
            </a:pPr>
            <a:endParaRPr/>
          </a:p>
          <a:p>
            <a:pPr marL="217793" indent="-217793">
              <a:buFont typeface="Arial"/>
              <a:buChar char="•"/>
              <a:defRPr/>
            </a:pPr>
            <a:r>
              <a:rPr/>
              <a:t>1. Přístup – blending, textura vypadá dobře, ale pokud nezobrazujeme objekty od nejvzdálenějších, dochází ke kolizím při depth testu</a:t>
            </a:r>
            <a:endParaRPr/>
          </a:p>
          <a:p>
            <a:pPr marL="617843" lvl="1" indent="-217793">
              <a:buFont typeface="Arial"/>
              <a:buChar char="•"/>
              <a:defRPr/>
            </a:pPr>
            <a:r>
              <a:rPr/>
              <a:t>Bylo by nutné řazení (v tomto scénáři obtížné) a překrývající se billboardy by stejně nefungovaly</a:t>
            </a:r>
            <a:endParaRPr/>
          </a:p>
          <a:p>
            <a:pPr marL="217793" lvl="0" indent="-217793">
              <a:buFont typeface="Arial"/>
              <a:buChar char="•"/>
              <a:defRPr/>
            </a:pPr>
            <a:r>
              <a:rPr/>
              <a:t>2. Přístup (použit v projektu) – prahování ve fragment shaderu, fragment s průhledností pod určitou hodnotou je zcela zahozen, nevstupuje ani do depth bufferu</a:t>
            </a:r>
            <a:endParaRPr/>
          </a:p>
          <a:p>
            <a:pPr marL="617843" lvl="1" indent="-217793">
              <a:buFont typeface="Arial"/>
              <a:buChar char="•"/>
              <a:defRPr/>
            </a:pPr>
            <a:r>
              <a:rPr/>
              <a:t>Způsobilo tvrdé černé hrany viditelné v předešlé verzi odevzdání</a:t>
            </a:r>
            <a:endParaRPr/>
          </a:p>
          <a:p>
            <a:pPr marL="617843" lvl="1" indent="-217793">
              <a:buFont typeface="Arial"/>
              <a:buChar char="•"/>
              <a:defRPr/>
            </a:pPr>
            <a:r>
              <a:rPr b="0"/>
              <a:t>Řešením bylo přidání </a:t>
            </a:r>
            <a:r>
              <a:rPr b="1"/>
              <a:t>multisamplingu </a:t>
            </a:r>
            <a:r>
              <a:rPr b="0"/>
              <a:t>a vyladění hodnoty prahu</a:t>
            </a:r>
            <a:endParaRPr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Úvodní sníme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Obrázek 1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817719" y="5157192"/>
            <a:ext cx="4182937" cy="861868"/>
          </a:xfrm>
          <a:prstGeom prst="rect">
            <a:avLst/>
          </a:prstGeom>
        </p:spPr>
      </p:pic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0824676" y="6530975"/>
            <a:ext cx="65617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-6085" y="-26640"/>
            <a:ext cx="12198085" cy="3598863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auto">
          <a:xfrm>
            <a:off x="10841609" y="6530975"/>
            <a:ext cx="48684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10841609" y="6530975"/>
            <a:ext cx="48684" cy="287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cs-CZ" sz="2400"/>
          </a:p>
        </p:txBody>
      </p:sp>
      <p:sp>
        <p:nvSpPr>
          <p:cNvPr id="240646" name="Rectangle 6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0" y="3621088"/>
            <a:ext cx="7464152" cy="1032048"/>
          </a:xfrm>
        </p:spPr>
        <p:txBody>
          <a:bodyPr/>
          <a:lstStyle>
            <a:lvl1pPr marL="0" indent="0" algn="r">
              <a:buFontTx/>
              <a:buNone/>
              <a:defRPr sz="3200"/>
            </a:lvl1pPr>
          </a:lstStyle>
          <a:p>
            <a:pPr>
              <a:defRPr/>
            </a:pPr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240645" name="Rectangle 5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1958976"/>
            <a:ext cx="7464152" cy="1254125"/>
          </a:xfrm>
        </p:spPr>
        <p:txBody>
          <a:bodyPr/>
          <a:lstStyle>
            <a:lvl1pPr algn="r">
              <a:defRPr sz="44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Nadpis a obsa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5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39148-7006-41C4-ABC2-D2A9F4595A6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Prázdn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9E105-8003-4962-AFA0-54D4ABFA0C7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Záhlaví části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FEAC19-CD6C-4528-B09F-367B3931C207}" type="slidenum">
              <a:rPr lang="en-US"/>
              <a:t/>
            </a:fld>
            <a:endParaRPr lang="en-US"/>
          </a:p>
        </p:txBody>
      </p:sp>
      <p:sp>
        <p:nvSpPr>
          <p:cNvPr id="7" name="Obdélník 6"/>
          <p:cNvSpPr/>
          <p:nvPr userDrawn="1"/>
        </p:nvSpPr>
        <p:spPr bwMode="auto">
          <a:xfrm>
            <a:off x="0" y="0"/>
            <a:ext cx="12192000" cy="5486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/>
          </a:bodyPr>
          <a:lstStyle/>
          <a:p>
            <a:pPr marL="342900" marR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endParaRPr lang="cs-CZ" sz="2400" b="1" i="0" u="none" strike="noStrike" cap="none">
              <a:ln>
                <a:noFill/>
              </a:ln>
              <a:solidFill>
                <a:srgbClr val="B9000C"/>
              </a:solidFill>
              <a:latin typeface="Tahom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Dva obsah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 bwMode="auto">
          <a:xfrm>
            <a:off x="431799" y="765175"/>
            <a:ext cx="5657851" cy="5330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 bwMode="auto">
          <a:xfrm>
            <a:off x="6292851" y="765175"/>
            <a:ext cx="5659967" cy="5330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6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AC346-A157-4EF4-A06B-3AB421B38C2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Porovnání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 bwMode="auto"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8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4FB18-8EAF-4DED-A64D-DB11D411D2B0}" type="slidenum">
              <a:rPr lang="en-US"/>
              <a:t/>
            </a:fld>
            <a:endParaRPr lang="en-US"/>
          </a:p>
        </p:txBody>
      </p:sp>
      <p:sp>
        <p:nvSpPr>
          <p:cNvPr id="9" name="Nadpis 1"/>
          <p:cNvSpPr>
            <a:spLocks noGrp="1"/>
          </p:cNvSpPr>
          <p:nvPr>
            <p:ph type="title"/>
          </p:nvPr>
        </p:nvSpPr>
        <p:spPr bwMode="auto">
          <a:xfrm>
            <a:off x="431801" y="-100013"/>
            <a:ext cx="10265833" cy="72072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Obsah s titulke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2400" b="1">
                <a:solidFill>
                  <a:srgbClr val="B9000C"/>
                </a:solidFill>
                <a:latin typeface="Tahoma"/>
              </a:defRPr>
            </a:lvl1pPr>
            <a:lvl2pPr marL="742950" indent="-285750">
              <a:defRPr sz="2400" b="1">
                <a:solidFill>
                  <a:srgbClr val="B9000C"/>
                </a:solidFill>
                <a:latin typeface="Tahoma"/>
              </a:defRPr>
            </a:lvl2pPr>
            <a:lvl3pPr marL="1143000" indent="-228600">
              <a:defRPr sz="2400" b="1">
                <a:solidFill>
                  <a:srgbClr val="B9000C"/>
                </a:solidFill>
                <a:latin typeface="Tahoma"/>
              </a:defRPr>
            </a:lvl3pPr>
            <a:lvl4pPr marL="1600200" indent="-228600">
              <a:defRPr sz="2400" b="1">
                <a:solidFill>
                  <a:srgbClr val="B9000C"/>
                </a:solidFill>
                <a:latin typeface="Tahoma"/>
              </a:defRPr>
            </a:lvl4pPr>
            <a:lvl5pPr marL="2057400" indent="-228600">
              <a:defRPr sz="2400" b="1">
                <a:solidFill>
                  <a:srgbClr val="B9000C"/>
                </a:solidFill>
                <a:latin typeface="Tahoma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Klepnutím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lze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upravit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styl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předlohy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nadpisů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 bwMode="auto"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 bwMode="auto">
          <a:xfrm>
            <a:off x="4766732" y="692697"/>
            <a:ext cx="6815667" cy="54334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 bwMode="auto"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8B9C9DCE-74AD-40A2-919B-1CC767854C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Obrázek s titulke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2400" b="1">
                <a:solidFill>
                  <a:srgbClr val="B9000C"/>
                </a:solidFill>
                <a:latin typeface="Tahoma"/>
              </a:defRPr>
            </a:lvl1pPr>
            <a:lvl2pPr marL="742950" indent="-285750">
              <a:defRPr sz="2400" b="1">
                <a:solidFill>
                  <a:srgbClr val="B9000C"/>
                </a:solidFill>
                <a:latin typeface="Tahoma"/>
              </a:defRPr>
            </a:lvl2pPr>
            <a:lvl3pPr marL="1143000" indent="-228600">
              <a:defRPr sz="2400" b="1">
                <a:solidFill>
                  <a:srgbClr val="B9000C"/>
                </a:solidFill>
                <a:latin typeface="Tahoma"/>
              </a:defRPr>
            </a:lvl3pPr>
            <a:lvl4pPr marL="1600200" indent="-228600">
              <a:defRPr sz="2400" b="1">
                <a:solidFill>
                  <a:srgbClr val="B9000C"/>
                </a:solidFill>
                <a:latin typeface="Tahoma"/>
              </a:defRPr>
            </a:lvl4pPr>
            <a:lvl5pPr marL="2057400" indent="-228600">
              <a:defRPr sz="2400" b="1">
                <a:solidFill>
                  <a:srgbClr val="B9000C"/>
                </a:solidFill>
                <a:latin typeface="Tahoma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Klepnutím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lze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upravit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styl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předlohy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nadpisů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en-US"/>
              <a:t>Click icon to add picture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F6DA920-88DF-466E-B7A8-39DA64F1E1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Nadpis a svislý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5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DE718B-A6F6-45FB-B0EA-3A4F7A6FC6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Svislý nadpis a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2400" b="1">
                <a:solidFill>
                  <a:srgbClr val="B9000C"/>
                </a:solidFill>
                <a:latin typeface="Tahoma"/>
              </a:defRPr>
            </a:lvl1pPr>
            <a:lvl2pPr marL="742950" indent="-285750">
              <a:defRPr sz="2400" b="1">
                <a:solidFill>
                  <a:srgbClr val="B9000C"/>
                </a:solidFill>
                <a:latin typeface="Tahoma"/>
              </a:defRPr>
            </a:lvl2pPr>
            <a:lvl3pPr marL="1143000" indent="-228600">
              <a:defRPr sz="2400" b="1">
                <a:solidFill>
                  <a:srgbClr val="B9000C"/>
                </a:solidFill>
                <a:latin typeface="Tahoma"/>
              </a:defRPr>
            </a:lvl3pPr>
            <a:lvl4pPr marL="1600200" indent="-228600">
              <a:defRPr sz="2400" b="1">
                <a:solidFill>
                  <a:srgbClr val="B9000C"/>
                </a:solidFill>
                <a:latin typeface="Tahoma"/>
              </a:defRPr>
            </a:lvl4pPr>
            <a:lvl5pPr marL="2057400" indent="-228600">
              <a:defRPr sz="2400" b="1">
                <a:solidFill>
                  <a:srgbClr val="B9000C"/>
                </a:solidFill>
                <a:latin typeface="Tahoma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Char char="•"/>
              <a:defRPr sz="2400" b="1">
                <a:solidFill>
                  <a:srgbClr val="B9000C"/>
                </a:solidFill>
                <a:latin typeface="Tahoma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Klepnutím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lze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upravit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styl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předlohy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nadpisů</a:t>
            </a:r>
            <a:r>
              <a:rPr lang="en-US" sz="2600" b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 bwMode="auto">
          <a:xfrm>
            <a:off x="9074151" y="-100013"/>
            <a:ext cx="2878667" cy="6196013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 bwMode="auto">
          <a:xfrm>
            <a:off x="431801" y="-100013"/>
            <a:ext cx="8439151" cy="6196013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6" name="Zástupný symbol pro číslo snímku 4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38E8744-0EE0-418F-9F78-FB0E984CBE6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" name="Skupina 2"/>
          <p:cNvGrpSpPr/>
          <p:nvPr userDrawn="1"/>
        </p:nvGrpSpPr>
        <p:grpSpPr bwMode="auto">
          <a:xfrm>
            <a:off x="0" y="1"/>
            <a:ext cx="12192000" cy="547688"/>
            <a:chOff x="0" y="1"/>
            <a:chExt cx="12192000" cy="547688"/>
          </a:xfrm>
          <a:solidFill>
            <a:srgbClr val="E5E5E5"/>
          </a:solidFill>
        </p:grpSpPr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0" y="1"/>
              <a:ext cx="12192000" cy="512763"/>
            </a:xfrm>
            <a:prstGeom prst="rect">
              <a:avLst/>
            </a:prstGeom>
            <a:grpFill/>
            <a:ln w="9525" cmpd="thinThick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cs-CZ" sz="2400"/>
            </a:p>
          </p:txBody>
        </p:sp>
        <p:sp>
          <p:nvSpPr>
            <p:cNvPr id="18466" name="Rectangle 34"/>
            <p:cNvSpPr>
              <a:spLocks noChangeArrowheads="1"/>
            </p:cNvSpPr>
            <p:nvPr/>
          </p:nvSpPr>
          <p:spPr bwMode="auto">
            <a:xfrm>
              <a:off x="0" y="512764"/>
              <a:ext cx="12192000" cy="34925"/>
            </a:xfrm>
            <a:prstGeom prst="rect">
              <a:avLst/>
            </a:prstGeom>
            <a:grpFill/>
            <a:ln w="9525" cmpd="thinThick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cs-CZ" sz="2400"/>
            </a:p>
          </p:txBody>
        </p:sp>
      </p:grpSp>
      <p:sp>
        <p:nvSpPr>
          <p:cNvPr id="1029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431801" y="-100013"/>
            <a:ext cx="10265833" cy="72072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Klepnutím</a:t>
            </a:r>
            <a:r>
              <a:rPr lang="en-US"/>
              <a:t> </a:t>
            </a:r>
            <a:r>
              <a:rPr lang="en-US"/>
              <a:t>lze</a:t>
            </a:r>
            <a:r>
              <a:rPr lang="en-US"/>
              <a:t> </a:t>
            </a:r>
            <a:r>
              <a:rPr lang="en-US"/>
              <a:t>upravit</a:t>
            </a:r>
            <a:r>
              <a:rPr lang="en-US"/>
              <a:t> </a:t>
            </a:r>
            <a:r>
              <a:rPr lang="en-US"/>
              <a:t>styl</a:t>
            </a:r>
            <a:r>
              <a:rPr lang="en-US"/>
              <a:t> </a:t>
            </a:r>
            <a:r>
              <a:rPr lang="en-US"/>
              <a:t>předlohy</a:t>
            </a:r>
            <a:r>
              <a:rPr lang="en-US"/>
              <a:t> </a:t>
            </a:r>
            <a:r>
              <a:rPr lang="en-US"/>
              <a:t>nadpisů</a:t>
            </a:r>
            <a:r>
              <a:rPr lang="en-US"/>
              <a:t>.</a:t>
            </a:r>
            <a:endParaRPr/>
          </a:p>
        </p:txBody>
      </p:sp>
      <p:sp>
        <p:nvSpPr>
          <p:cNvPr id="18435" name="Rectangle 3"/>
          <p:cNvSpPr>
            <a:spLocks noChangeArrowheads="1" noGrp="1"/>
          </p:cNvSpPr>
          <p:nvPr>
            <p:ph type="body" idx="1"/>
          </p:nvPr>
        </p:nvSpPr>
        <p:spPr bwMode="auto">
          <a:xfrm>
            <a:off x="431801" y="765175"/>
            <a:ext cx="11521017" cy="60347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Klepnutím</a:t>
            </a:r>
            <a:r>
              <a:rPr lang="en-US"/>
              <a:t> </a:t>
            </a:r>
            <a:r>
              <a:rPr lang="en-US"/>
              <a:t>lze</a:t>
            </a:r>
            <a:r>
              <a:rPr lang="en-US"/>
              <a:t> </a:t>
            </a:r>
            <a:r>
              <a:rPr lang="en-US"/>
              <a:t>upravit</a:t>
            </a:r>
            <a:r>
              <a:rPr lang="en-US"/>
              <a:t> </a:t>
            </a:r>
            <a:r>
              <a:rPr lang="en-US"/>
              <a:t>styly</a:t>
            </a:r>
            <a:r>
              <a:rPr lang="en-US"/>
              <a:t> </a:t>
            </a:r>
            <a:r>
              <a:rPr lang="en-US"/>
              <a:t>předlohy</a:t>
            </a:r>
            <a:r>
              <a:rPr lang="en-US"/>
              <a:t> </a:t>
            </a:r>
            <a:r>
              <a:rPr lang="en-US"/>
              <a:t>textu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/>
              <a:t>Druhá</a:t>
            </a:r>
            <a:r>
              <a:rPr lang="en-US"/>
              <a:t> </a:t>
            </a:r>
            <a:r>
              <a:rPr lang="en-US"/>
              <a:t>úroveň</a:t>
            </a:r>
            <a:endParaRPr lang="en-US"/>
          </a:p>
          <a:p>
            <a:pPr lvl="2">
              <a:defRPr/>
            </a:pPr>
            <a:r>
              <a:rPr lang="en-US"/>
              <a:t>Třetí</a:t>
            </a:r>
            <a:r>
              <a:rPr lang="en-US"/>
              <a:t> </a:t>
            </a:r>
            <a:r>
              <a:rPr lang="en-US"/>
              <a:t>úroveň</a:t>
            </a:r>
            <a:endParaRPr lang="en-US"/>
          </a:p>
          <a:p>
            <a:pPr lvl="3">
              <a:defRPr/>
            </a:pPr>
            <a:r>
              <a:rPr lang="en-US"/>
              <a:t>Čtvrtá</a:t>
            </a:r>
            <a:r>
              <a:rPr lang="en-US"/>
              <a:t> </a:t>
            </a:r>
            <a:r>
              <a:rPr lang="en-US"/>
              <a:t>úroveň</a:t>
            </a:r>
            <a:endParaRPr lang="en-US"/>
          </a:p>
          <a:p>
            <a:pPr lvl="4">
              <a:defRPr/>
            </a:pPr>
            <a:r>
              <a:rPr lang="en-US"/>
              <a:t>Pátá</a:t>
            </a:r>
            <a:r>
              <a:rPr lang="en-US"/>
              <a:t> </a:t>
            </a:r>
            <a:r>
              <a:rPr lang="en-US"/>
              <a:t>úroveň</a:t>
            </a:r>
            <a:endParaRPr lang="en-US"/>
          </a:p>
        </p:txBody>
      </p:sp>
      <p:sp>
        <p:nvSpPr>
          <p:cNvPr id="18438" name="Rectangle 6"/>
          <p:cNvSpPr>
            <a:spLocks noChangeArrowheads="1" noGrp="1"/>
          </p:cNvSpPr>
          <p:nvPr>
            <p:ph type="sldNum" sz="quarter" idx="4"/>
          </p:nvPr>
        </p:nvSpPr>
        <p:spPr bwMode="auto">
          <a:xfrm>
            <a:off x="11430000" y="6524626"/>
            <a:ext cx="569384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spcBef>
                <a:spcPts val="0"/>
              </a:spcBef>
              <a:buFontTx/>
              <a:buNone/>
              <a:defRPr sz="1400" b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defRPr/>
            </a:pPr>
            <a:fld id="{A689CB1D-D8FD-4B5B-916F-DD5C38307548}" type="slidenum">
              <a:rPr lang="en-US"/>
              <a:t/>
            </a:fld>
            <a:endParaRPr lang="en-US"/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287867" y="115889"/>
            <a:ext cx="63500" cy="288924"/>
          </a:xfrm>
          <a:prstGeom prst="rect">
            <a:avLst/>
          </a:prstGeom>
          <a:solidFill>
            <a:srgbClr val="FE000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ts val="0"/>
              </a:spcBef>
              <a:buFontTx/>
              <a:buNone/>
              <a:defRPr/>
            </a:pPr>
            <a:endParaRPr lang="cs-CZ" sz="2400" b="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10777335" y="116632"/>
            <a:ext cx="63500" cy="288924"/>
          </a:xfrm>
          <a:prstGeom prst="rect">
            <a:avLst/>
          </a:prstGeom>
          <a:solidFill>
            <a:srgbClr val="00A9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ts val="0"/>
              </a:spcBef>
              <a:buFontTx/>
              <a:buNone/>
              <a:defRPr/>
            </a:pPr>
            <a:endParaRPr lang="cs-CZ" sz="2400" b="0">
              <a:solidFill>
                <a:schemeClr val="tx1"/>
              </a:solidFill>
              <a:latin typeface="Century Gothic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2"/>
          <a:stretch/>
        </p:blipFill>
        <p:spPr bwMode="auto">
          <a:xfrm>
            <a:off x="10968508" y="53450"/>
            <a:ext cx="1095817" cy="4389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1" hdr="0" sldNum="1"/>
  <p:txStyles>
    <p:titleStyle>
      <a:lvl1pPr algn="l">
        <a:spcBef>
          <a:spcPts val="0"/>
        </a:spcBef>
        <a:spcAft>
          <a:spcPts val="0"/>
        </a:spcAft>
        <a:defRPr sz="3200">
          <a:solidFill>
            <a:srgbClr val="00A9E0"/>
          </a:solidFill>
          <a:latin typeface="Calibri"/>
          <a:ea typeface="Calibri"/>
          <a:cs typeface="Calibri"/>
        </a:defRPr>
      </a:lvl1pPr>
      <a:lvl2pPr algn="l">
        <a:spcBef>
          <a:spcPts val="0"/>
        </a:spcBef>
        <a:spcAft>
          <a:spcPts val="0"/>
        </a:spcAft>
        <a:defRPr sz="2600">
          <a:solidFill>
            <a:srgbClr val="1B85B9"/>
          </a:solidFill>
          <a:latin typeface="Calibri"/>
          <a:ea typeface="Calibri"/>
          <a:cs typeface="Calibri"/>
        </a:defRPr>
      </a:lvl2pPr>
      <a:lvl3pPr algn="l">
        <a:spcBef>
          <a:spcPts val="0"/>
        </a:spcBef>
        <a:spcAft>
          <a:spcPts val="0"/>
        </a:spcAft>
        <a:defRPr sz="2600">
          <a:solidFill>
            <a:srgbClr val="1B85B9"/>
          </a:solidFill>
          <a:latin typeface="Calibri"/>
          <a:ea typeface="Calibri"/>
          <a:cs typeface="Calibri"/>
        </a:defRPr>
      </a:lvl3pPr>
      <a:lvl4pPr algn="l">
        <a:spcBef>
          <a:spcPts val="0"/>
        </a:spcBef>
        <a:spcAft>
          <a:spcPts val="0"/>
        </a:spcAft>
        <a:defRPr sz="2600">
          <a:solidFill>
            <a:srgbClr val="1B85B9"/>
          </a:solidFill>
          <a:latin typeface="Calibri"/>
          <a:ea typeface="Calibri"/>
          <a:cs typeface="Calibri"/>
        </a:defRPr>
      </a:lvl4pPr>
      <a:lvl5pPr algn="l">
        <a:spcBef>
          <a:spcPts val="0"/>
        </a:spcBef>
        <a:spcAft>
          <a:spcPts val="0"/>
        </a:spcAft>
        <a:defRPr sz="2600">
          <a:solidFill>
            <a:srgbClr val="1B85B9"/>
          </a:solidFill>
          <a:latin typeface="Calibri"/>
          <a:ea typeface="Calibri"/>
          <a:cs typeface="Calibri"/>
        </a:defRPr>
      </a:lvl5pPr>
      <a:lvl6pPr marL="457200" algn="l">
        <a:spcBef>
          <a:spcPts val="0"/>
        </a:spcBef>
        <a:spcAft>
          <a:spcPts val="0"/>
        </a:spcAft>
        <a:defRPr sz="2600">
          <a:solidFill>
            <a:srgbClr val="1B85B9"/>
          </a:solidFill>
          <a:latin typeface="Tahoma"/>
        </a:defRPr>
      </a:lvl6pPr>
      <a:lvl7pPr marL="914400" algn="l">
        <a:spcBef>
          <a:spcPts val="0"/>
        </a:spcBef>
        <a:spcAft>
          <a:spcPts val="0"/>
        </a:spcAft>
        <a:defRPr sz="2600">
          <a:solidFill>
            <a:srgbClr val="1B85B9"/>
          </a:solidFill>
          <a:latin typeface="Tahoma"/>
        </a:defRPr>
      </a:lvl7pPr>
      <a:lvl8pPr marL="1371600" algn="l">
        <a:spcBef>
          <a:spcPts val="0"/>
        </a:spcBef>
        <a:spcAft>
          <a:spcPts val="0"/>
        </a:spcAft>
        <a:defRPr sz="2600">
          <a:solidFill>
            <a:srgbClr val="1B85B9"/>
          </a:solidFill>
          <a:latin typeface="Tahoma"/>
        </a:defRPr>
      </a:lvl8pPr>
      <a:lvl9pPr marL="1828800" algn="l">
        <a:spcBef>
          <a:spcPts val="0"/>
        </a:spcBef>
        <a:spcAft>
          <a:spcPts val="0"/>
        </a:spcAft>
        <a:defRPr sz="2600">
          <a:solidFill>
            <a:srgbClr val="1B85B9"/>
          </a:solidFill>
          <a:latin typeface="Tahoma"/>
        </a:defRPr>
      </a:lvl9pPr>
    </p:titleStyle>
    <p:bodyStyle>
      <a:lvl1pPr marL="342900" indent="-342900" algn="l">
        <a:spcBef>
          <a:spcPts val="0"/>
        </a:spcBef>
        <a:spcAft>
          <a:spcPts val="0"/>
        </a:spcAft>
        <a:buChar char="•"/>
        <a:defRPr sz="2600">
          <a:solidFill>
            <a:schemeClr val="tx1"/>
          </a:solidFill>
          <a:latin typeface="Calibri"/>
          <a:ea typeface="Calibri"/>
          <a:cs typeface="Calibri"/>
        </a:defRPr>
      </a:lvl1pPr>
      <a:lvl2pPr marL="742950" indent="-285750" algn="l">
        <a:spcBef>
          <a:spcPts val="0"/>
        </a:spcBef>
        <a:spcAft>
          <a:spcPts val="0"/>
        </a:spcAft>
        <a:buChar char="•"/>
        <a:defRPr sz="2400">
          <a:solidFill>
            <a:schemeClr val="tx1"/>
          </a:solidFill>
          <a:latin typeface="Calibri"/>
          <a:ea typeface="Calibri"/>
          <a:cs typeface="Calibri"/>
        </a:defRPr>
      </a:lvl2pPr>
      <a:lvl3pPr marL="1143000" indent="-228600" algn="l">
        <a:spcBef>
          <a:spcPts val="0"/>
        </a:spcBef>
        <a:spcAft>
          <a:spcPts val="0"/>
        </a:spcAft>
        <a:buChar char="•"/>
        <a:defRPr sz="22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>
        <a:spcBef>
          <a:spcPts val="0"/>
        </a:spcBef>
        <a:spcAft>
          <a:spcPts val="0"/>
        </a:spcAft>
        <a:buChar char="•"/>
        <a:defRPr sz="16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>
        <a:spcBef>
          <a:spcPts val="0"/>
        </a:spcBef>
        <a:spcAft>
          <a:spcPts val="0"/>
        </a:spcAft>
        <a:buChar char="•"/>
        <a:defRPr sz="14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>
        <a:spcBef>
          <a:spcPts val="0"/>
        </a:spcBef>
        <a:spcAft>
          <a:spcPts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>
        <a:spcBef>
          <a:spcPts val="0"/>
        </a:spcBef>
        <a:spcAft>
          <a:spcPts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>
        <a:spcBef>
          <a:spcPts val="0"/>
        </a:spcBef>
        <a:spcAft>
          <a:spcPts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>
        <a:spcBef>
          <a:spcPts val="0"/>
        </a:spcBef>
        <a:spcAft>
          <a:spcPts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charvotj/PGR-landscape-generator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charvotj/PGR-landscape-gener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00008" y="4724401"/>
            <a:ext cx="3133784" cy="1929284"/>
          </a:xfrm>
          <a:prstGeom prst="rect">
            <a:avLst/>
          </a:prstGeom>
        </p:spPr>
      </p:pic>
      <p:sp>
        <p:nvSpPr>
          <p:cNvPr id="6146" name="Rectangle 2"/>
          <p:cNvSpPr>
            <a:spLocks noChangeArrowheads="1" noGrp="1"/>
          </p:cNvSpPr>
          <p:nvPr>
            <p:ph type="ctrTitle"/>
          </p:nvPr>
        </p:nvSpPr>
        <p:spPr bwMode="auto">
          <a:xfrm>
            <a:off x="479376" y="1988840"/>
            <a:ext cx="7928506" cy="1254125"/>
          </a:xfrm>
        </p:spPr>
        <p:txBody>
          <a:bodyPr/>
          <a:lstStyle/>
          <a:p>
            <a:pPr>
              <a:defRPr/>
            </a:pPr>
            <a:r>
              <a:rPr lang="cs-CZ" sz="4400" b="0" i="0" u="none" strike="noStrike" cap="none" spc="0">
                <a:solidFill>
                  <a:schemeClr val="bg1"/>
                </a:solidFill>
                <a:latin typeface="Calibri"/>
                <a:cs typeface="Calibri"/>
              </a:rPr>
              <a:t>Generování modelu reálné krajiny se zaměřením na lesy</a:t>
            </a:r>
            <a:endParaRPr lang="en-US"/>
          </a:p>
        </p:txBody>
      </p:sp>
      <p:sp>
        <p:nvSpPr>
          <p:cNvPr id="6147" name="Rectangle 3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479376" y="3694112"/>
            <a:ext cx="7921674" cy="801687"/>
          </a:xfrm>
        </p:spPr>
        <p:txBody>
          <a:bodyPr/>
          <a:lstStyle/>
          <a:p>
            <a:pPr>
              <a:defRPr/>
            </a:pPr>
            <a:r>
              <a:rPr lang="cs-CZ"/>
              <a:t>Jakub Charvot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rgbClr val="00A9E0"/>
                </a:solidFill>
                <a:latin typeface="Calibri"/>
                <a:cs typeface="Calibri"/>
              </a:rPr>
              <a:t>Zadání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cs typeface="Calibri"/>
              </a:rPr>
              <a:t>Cílem je vytvořit aplikaci sloužící ke generování modelu reálné krajiny se zaměřením na lesy.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Zdrojové kódy:</a:t>
            </a:r>
            <a:endParaRPr lang="en-US"/>
          </a:p>
          <a:p>
            <a:pPr lvl="1">
              <a:defRPr/>
            </a:pPr>
            <a:r>
              <a:rPr lang="en-US" sz="2400" b="0" i="0" u="sng" strike="noStrike" cap="none" spc="0">
                <a:solidFill>
                  <a:schemeClr val="tx1"/>
                </a:solidFill>
                <a:latin typeface="Calibri"/>
                <a:cs typeface="Calibri"/>
                <a:hlinkClick r:id="rId2" tooltip="https://github.com/charvotj/PGR-landscape-generator"/>
              </a:rPr>
              <a:t>https://github.com/charvotj/PGR-landscape-generator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C839148-7006-41C4-ABC2-D2A9F4595A63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682842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3200"/>
            </a:lvl1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rgbClr val="00A9E0"/>
                </a:solidFill>
                <a:latin typeface="Calibri"/>
                <a:cs typeface="Calibri"/>
              </a:rPr>
              <a:t>Datové podklady</a:t>
            </a:r>
            <a:endParaRPr/>
          </a:p>
        </p:txBody>
      </p:sp>
      <p:sp>
        <p:nvSpPr>
          <p:cNvPr id="1370262911" name="Zástupný symbol pro obsah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cs typeface="Calibri"/>
              </a:rPr>
              <a:t>Digitální model terénu</a:t>
            </a:r>
            <a:endParaRPr lang="en-US" sz="2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Calibri"/>
                <a:cs typeface="Calibri"/>
              </a:rPr>
              <a:t>ČUZK - ZABAGED® - Výškopis - DMR 5G</a:t>
            </a:r>
            <a:endParaRPr lang="en-US" sz="2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lvl="2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Calibri"/>
                <a:cs typeface="Calibri"/>
              </a:rPr>
              <a:t>Mračno bodů –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Calibri"/>
                <a:cs typeface="Calibri"/>
              </a:rPr>
              <a:t>nutná triangulace</a:t>
            </a:r>
            <a:endParaRPr lang="en-US" sz="2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Calibri"/>
                <a:cs typeface="Calibri"/>
              </a:rPr>
              <a:t>ČUZK - INSPIRE - Ortofotosnímky (OI)</a:t>
            </a:r>
            <a:endParaRPr lang="en-US" sz="2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Druhová skladba lesů – zatím nevyužito</a:t>
            </a:r>
            <a:endParaRPr sz="2600" b="0" i="0" u="none" strike="noStrike" cap="none" spc="0">
              <a:solidFill>
                <a:schemeClr val="tx1">
                  <a:lumMod val="50000"/>
                  <a:lumOff val="50000"/>
                </a:schemeClr>
              </a:solidFill>
              <a:latin typeface="Calibri"/>
              <a:cs typeface="Calibri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Např. Národní lesnický institut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9763537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01DB-3720-E7DB-DCDB-DBBC17088B4D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681688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3200"/>
            </a:lvl1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rgbClr val="00A9E0"/>
                </a:solidFill>
                <a:latin typeface="Calibri"/>
                <a:cs typeface="Calibri"/>
              </a:rPr>
              <a:t>Struktura projektu</a:t>
            </a:r>
            <a:endParaRPr/>
          </a:p>
        </p:txBody>
      </p:sp>
      <p:sp>
        <p:nvSpPr>
          <p:cNvPr id="1961055541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BECC6D-5721-868E-1155-60969F9A6F33}" type="slidenum">
              <a:rPr lang="en-US"/>
              <a:t/>
            </a:fld>
            <a:endParaRPr lang="en-US"/>
          </a:p>
        </p:txBody>
      </p:sp>
      <p:sp>
        <p:nvSpPr>
          <p:cNvPr id="1847957385" name=""/>
          <p:cNvSpPr txBox="1"/>
          <p:nvPr/>
        </p:nvSpPr>
        <p:spPr bwMode="auto">
          <a:xfrm flipH="0" flipV="0">
            <a:off x="687747" y="4592927"/>
            <a:ext cx="3227038" cy="1310999"/>
          </a:xfrm>
          <a:prstGeom prst="rect">
            <a:avLst/>
          </a:prstGeom>
          <a:solidFill>
            <a:schemeClr val="accent1">
              <a:alpha val="26998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tx1"/>
                </a:solidFill>
              </a:rPr>
              <a:t>Blender</a:t>
            </a:r>
            <a:endParaRPr sz="2800" b="1">
              <a:solidFill>
                <a:schemeClr val="tx1"/>
              </a:solidFill>
            </a:endParaRPr>
          </a:p>
          <a:p>
            <a:pPr marL="0" indent="0" algn="ctr">
              <a:buNone/>
              <a:defRPr/>
            </a:pPr>
            <a:r>
              <a:rPr sz="2600" b="0">
                <a:solidFill>
                  <a:schemeClr val="tx1"/>
                </a:solidFill>
              </a:rPr>
              <a:t>TreeGen plugin</a:t>
            </a:r>
            <a:endParaRPr sz="2600">
              <a:solidFill>
                <a:schemeClr val="tx1"/>
              </a:solidFill>
            </a:endParaRPr>
          </a:p>
          <a:p>
            <a:pPr marL="371993" indent="-371993" algn="ctr">
              <a:buFont typeface="Arial"/>
              <a:buChar char="–"/>
              <a:defRPr/>
            </a:pPr>
            <a:r>
              <a:rPr sz="2600" b="0">
                <a:solidFill>
                  <a:schemeClr val="tx1"/>
                </a:solidFill>
              </a:rPr>
              <a:t>modely stromů</a:t>
            </a:r>
            <a:endParaRPr sz="2600">
              <a:solidFill>
                <a:schemeClr val="tx1"/>
              </a:solidFill>
            </a:endParaRPr>
          </a:p>
        </p:txBody>
      </p:sp>
      <p:pic>
        <p:nvPicPr>
          <p:cNvPr id="163996517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7527" y="4099506"/>
            <a:ext cx="1206138" cy="986841"/>
          </a:xfrm>
          <a:prstGeom prst="rect">
            <a:avLst/>
          </a:prstGeom>
        </p:spPr>
      </p:pic>
      <p:sp>
        <p:nvSpPr>
          <p:cNvPr id="497249128" name=""/>
          <p:cNvSpPr txBox="1"/>
          <p:nvPr/>
        </p:nvSpPr>
        <p:spPr bwMode="auto">
          <a:xfrm flipH="0" flipV="0">
            <a:off x="838197" y="2117998"/>
            <a:ext cx="2923650" cy="1310999"/>
          </a:xfrm>
          <a:prstGeom prst="rect">
            <a:avLst/>
          </a:prstGeom>
          <a:solidFill>
            <a:schemeClr val="accent1">
              <a:alpha val="26998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tx1"/>
                </a:solidFill>
              </a:rPr>
              <a:t>ČUZK</a:t>
            </a:r>
            <a:endParaRPr sz="2600">
              <a:solidFill>
                <a:schemeClr val="tx1"/>
              </a:solidFill>
            </a:endParaRPr>
          </a:p>
          <a:p>
            <a:pPr marL="0" indent="0" algn="ctr">
              <a:buNone/>
              <a:defRPr/>
            </a:pPr>
            <a:r>
              <a:rPr sz="2600" b="0">
                <a:solidFill>
                  <a:schemeClr val="tx1"/>
                </a:solidFill>
              </a:rPr>
              <a:t>OpenData, GIS</a:t>
            </a:r>
            <a:endParaRPr sz="2600" b="0">
              <a:solidFill>
                <a:schemeClr val="tx1"/>
              </a:solidFill>
            </a:endParaRPr>
          </a:p>
          <a:p>
            <a:pPr marL="371992" indent="-371992" algn="ctr">
              <a:buFont typeface="Arial"/>
              <a:buChar char="–"/>
              <a:defRPr/>
            </a:pPr>
            <a:r>
              <a:rPr sz="2600" b="0">
                <a:solidFill>
                  <a:schemeClr val="tx1"/>
                </a:solidFill>
              </a:rPr>
              <a:t>terén, ortofoto</a:t>
            </a:r>
            <a:endParaRPr sz="2600" b="0">
              <a:solidFill>
                <a:schemeClr val="tx1"/>
              </a:solidFill>
            </a:endParaRPr>
          </a:p>
        </p:txBody>
      </p:sp>
      <p:pic>
        <p:nvPicPr>
          <p:cNvPr id="18715803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348" y="1912338"/>
            <a:ext cx="1506898" cy="535583"/>
          </a:xfrm>
          <a:prstGeom prst="rect">
            <a:avLst/>
          </a:prstGeom>
        </p:spPr>
      </p:pic>
      <p:sp>
        <p:nvSpPr>
          <p:cNvPr id="891905876" name=""/>
          <p:cNvSpPr txBox="1"/>
          <p:nvPr/>
        </p:nvSpPr>
        <p:spPr bwMode="auto">
          <a:xfrm flipH="0" flipV="0">
            <a:off x="4783496" y="2117998"/>
            <a:ext cx="3252600" cy="1310999"/>
          </a:xfrm>
          <a:prstGeom prst="rect">
            <a:avLst/>
          </a:prstGeom>
          <a:solidFill>
            <a:schemeClr val="accent1">
              <a:alpha val="26998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tx1"/>
                </a:solidFill>
              </a:rPr>
              <a:t>Python</a:t>
            </a:r>
            <a:endParaRPr sz="2600">
              <a:solidFill>
                <a:schemeClr val="tx1"/>
              </a:solidFill>
            </a:endParaRPr>
          </a:p>
          <a:p>
            <a:pPr marL="371992" indent="-371992" algn="ctr">
              <a:buFont typeface="Arial"/>
              <a:buChar char="–"/>
              <a:defRPr/>
            </a:pPr>
            <a:r>
              <a:rPr sz="2600" b="0">
                <a:solidFill>
                  <a:schemeClr val="tx1"/>
                </a:solidFill>
              </a:rPr>
              <a:t>nač</a:t>
            </a:r>
            <a:r>
              <a:rPr sz="2600" b="0">
                <a:solidFill>
                  <a:schemeClr val="tx1"/>
                </a:solidFill>
              </a:rPr>
              <a:t>ten</a:t>
            </a:r>
            <a:r>
              <a:rPr sz="2600" b="0">
                <a:solidFill>
                  <a:schemeClr val="tx1"/>
                </a:solidFill>
              </a:rPr>
              <a:t>í dat</a:t>
            </a:r>
            <a:endParaRPr sz="2600" b="0">
              <a:solidFill>
                <a:schemeClr val="tx1"/>
              </a:solidFill>
            </a:endParaRPr>
          </a:p>
          <a:p>
            <a:pPr marL="371992" indent="-371992" algn="ctr">
              <a:buFont typeface="Arial"/>
              <a:buChar char="–"/>
              <a:defRPr/>
            </a:pPr>
            <a:r>
              <a:rPr sz="2600" b="0">
                <a:solidFill>
                  <a:schemeClr val="tx1"/>
                </a:solidFill>
              </a:rPr>
              <a:t>preproccesing</a:t>
            </a:r>
            <a:endParaRPr sz="2600">
              <a:solidFill>
                <a:schemeClr val="tx1"/>
              </a:solidFill>
            </a:endParaRPr>
          </a:p>
        </p:txBody>
      </p:sp>
      <p:pic>
        <p:nvPicPr>
          <p:cNvPr id="174245111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345348" y="1480798"/>
            <a:ext cx="1083898" cy="1083898"/>
          </a:xfrm>
          <a:prstGeom prst="rect">
            <a:avLst/>
          </a:prstGeom>
        </p:spPr>
      </p:pic>
      <p:pic>
        <p:nvPicPr>
          <p:cNvPr id="192281599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914900" y="4734076"/>
            <a:ext cx="1028700" cy="1028700"/>
          </a:xfrm>
          <a:prstGeom prst="rect">
            <a:avLst/>
          </a:prstGeom>
        </p:spPr>
      </p:pic>
      <p:sp>
        <p:nvSpPr>
          <p:cNvPr id="24904208" name=""/>
          <p:cNvSpPr txBox="1"/>
          <p:nvPr/>
        </p:nvSpPr>
        <p:spPr bwMode="auto">
          <a:xfrm flipH="0" flipV="0">
            <a:off x="8050322" y="5248427"/>
            <a:ext cx="3261960" cy="914760"/>
          </a:xfrm>
          <a:prstGeom prst="rect">
            <a:avLst/>
          </a:prstGeom>
          <a:solidFill>
            <a:schemeClr val="accent1">
              <a:alpha val="26998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800" b="1">
                <a:solidFill>
                  <a:schemeClr val="tx1"/>
                </a:solidFill>
              </a:rPr>
              <a:t>OpenGL</a:t>
            </a:r>
            <a:endParaRPr sz="2600">
              <a:solidFill>
                <a:schemeClr val="tx1"/>
              </a:solidFill>
            </a:endParaRPr>
          </a:p>
          <a:p>
            <a:pPr marL="371992" indent="-371992" algn="ctr">
              <a:buFont typeface="Arial"/>
              <a:buChar char="–"/>
              <a:defRPr/>
            </a:pPr>
            <a:r>
              <a:rPr sz="2600" b="0" u="none">
                <a:solidFill>
                  <a:schemeClr val="tx1"/>
                </a:solidFill>
              </a:rPr>
              <a:t>render / UI</a:t>
            </a:r>
            <a:endParaRPr sz="2600">
              <a:solidFill>
                <a:schemeClr val="tx1"/>
              </a:solidFill>
            </a:endParaRPr>
          </a:p>
        </p:txBody>
      </p:sp>
      <p:pic>
        <p:nvPicPr>
          <p:cNvPr id="1905996435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7672522" y="4579455"/>
            <a:ext cx="2086443" cy="869622"/>
          </a:xfrm>
          <a:prstGeom prst="rect">
            <a:avLst/>
          </a:prstGeom>
        </p:spPr>
      </p:pic>
      <p:pic>
        <p:nvPicPr>
          <p:cNvPr id="123522822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10705024" y="4307711"/>
            <a:ext cx="1013646" cy="1141366"/>
          </a:xfrm>
          <a:prstGeom prst="rect">
            <a:avLst/>
          </a:prstGeom>
        </p:spPr>
      </p:pic>
      <p:cxnSp>
        <p:nvCxnSpPr>
          <p:cNvPr id="1966888714" name=""/>
          <p:cNvCxnSpPr>
            <a:cxnSpLocks/>
          </p:cNvCxnSpPr>
          <p:nvPr/>
        </p:nvCxnSpPr>
        <p:spPr bwMode="auto">
          <a:xfrm rot="10799956" flipH="1" flipV="1">
            <a:off x="3760408" y="2820634"/>
            <a:ext cx="892021" cy="0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headEnd type="none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262806" name=""/>
          <p:cNvCxnSpPr>
            <a:cxnSpLocks/>
          </p:cNvCxnSpPr>
          <p:nvPr/>
        </p:nvCxnSpPr>
        <p:spPr bwMode="auto">
          <a:xfrm rot="10799956" flipH="1" flipV="1">
            <a:off x="6095998" y="5335233"/>
            <a:ext cx="1430698" cy="0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headEnd type="none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871148" name=""/>
          <p:cNvCxnSpPr>
            <a:cxnSpLocks/>
          </p:cNvCxnSpPr>
          <p:nvPr/>
        </p:nvCxnSpPr>
        <p:spPr bwMode="auto">
          <a:xfrm rot="10799956" flipH="1" flipV="1">
            <a:off x="3912808" y="5335233"/>
            <a:ext cx="892020" cy="0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headEnd type="none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2449719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flipH="0" flipV="0">
            <a:off x="9322272" y="2168461"/>
            <a:ext cx="912447" cy="1149685"/>
          </a:xfrm>
          <a:prstGeom prst="rect">
            <a:avLst/>
          </a:prstGeom>
        </p:spPr>
      </p:pic>
      <p:cxnSp>
        <p:nvCxnSpPr>
          <p:cNvPr id="1168359880" name=""/>
          <p:cNvCxnSpPr>
            <a:cxnSpLocks/>
          </p:cNvCxnSpPr>
          <p:nvPr/>
        </p:nvCxnSpPr>
        <p:spPr bwMode="auto">
          <a:xfrm rot="10799956" flipH="1" flipV="1">
            <a:off x="8084758" y="2773498"/>
            <a:ext cx="892020" cy="0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headEnd type="none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323290" name=""/>
          <p:cNvCxnSpPr>
            <a:cxnSpLocks/>
          </p:cNvCxnSpPr>
          <p:nvPr/>
        </p:nvCxnSpPr>
        <p:spPr bwMode="auto">
          <a:xfrm rot="10799956" flipH="1" flipV="1">
            <a:off x="9758966" y="3428998"/>
            <a:ext cx="0" cy="1150455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headEnd type="none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092935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3200"/>
            </a:lvl1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rgbClr val="00A9E0"/>
                </a:solidFill>
                <a:latin typeface="Calibri"/>
                <a:cs typeface="Calibri"/>
              </a:rPr>
              <a:t>Hlavní program</a:t>
            </a:r>
            <a:endParaRPr/>
          </a:p>
        </p:txBody>
      </p:sp>
      <p:sp>
        <p:nvSpPr>
          <p:cNvPr id="782539368" name="Zástupný symbol pro obsah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Načtení modelů – terén, stromy (různé druhy)</a:t>
            </a:r>
            <a:endParaRPr sz="260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+ textury</a:t>
            </a:r>
            <a:endParaRPr sz="260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Render textur pro billboardy</a:t>
            </a:r>
            <a:endParaRPr sz="260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Instance buffer pro stromy</a:t>
            </a:r>
            <a:endParaRPr sz="260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Model matice ukládá (předpočítanou) pozici a velikost</a:t>
            </a:r>
            <a:endParaRPr lang="en-US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(Jednorázový) render scény pro shadow mapping</a:t>
            </a:r>
            <a:endParaRPr lang="en-US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endParaRPr sz="26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Smyčka CPU</a:t>
            </a:r>
            <a:endParaRPr sz="260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Pouze pohyb kamery a řízení draw-callů</a:t>
            </a:r>
            <a:endParaRPr sz="260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LOD a View Frustum Culling na GPU</a:t>
            </a:r>
            <a:endParaRPr sz="2600">
              <a:solidFill>
                <a:schemeClr val="tx1"/>
              </a:solidFill>
            </a:endParaRPr>
          </a:p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91114429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970EC-AA2F-2005-8123-1756A7D22DE5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486230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3200"/>
            </a:lvl1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rgbClr val="00A9E0"/>
                </a:solidFill>
                <a:latin typeface="Calibri"/>
                <a:cs typeface="Calibri"/>
              </a:rPr>
              <a:t>Level of Details</a:t>
            </a:r>
            <a:endParaRPr/>
          </a:p>
        </p:txBody>
      </p:sp>
      <p:sp>
        <p:nvSpPr>
          <p:cNvPr id="2041570177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7CC40C-8FA0-3D6C-9506-D7D9B5FD40D4}" type="slidenum">
              <a:rPr lang="en-US"/>
              <a:t/>
            </a:fld>
            <a:endParaRPr lang="en-US"/>
          </a:p>
        </p:txBody>
      </p:sp>
      <p:cxnSp>
        <p:nvCxnSpPr>
          <p:cNvPr id="938975663" name=""/>
          <p:cNvCxnSpPr>
            <a:cxnSpLocks/>
            <a:stCxn id="196150692" idx="3"/>
          </p:cNvCxnSpPr>
          <p:nvPr/>
        </p:nvCxnSpPr>
        <p:spPr bwMode="auto">
          <a:xfrm rot="0" flipH="0" flipV="0">
            <a:off x="5839896" y="1190978"/>
            <a:ext cx="1401052" cy="4238271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headEnd type="none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7350006" name=""/>
          <p:cNvSpPr txBox="1"/>
          <p:nvPr/>
        </p:nvSpPr>
        <p:spPr bwMode="auto">
          <a:xfrm flipH="0" flipV="0">
            <a:off x="737037" y="4457477"/>
            <a:ext cx="3183869" cy="457559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400" b="1">
                <a:solidFill>
                  <a:schemeClr val="tx1"/>
                </a:solidFill>
              </a:rPr>
              <a:t>Vertex</a:t>
            </a:r>
            <a:r>
              <a:rPr sz="2400" b="1">
                <a:solidFill>
                  <a:schemeClr val="tx1"/>
                </a:solidFill>
              </a:rPr>
              <a:t> buffer</a:t>
            </a:r>
            <a:r>
              <a:rPr sz="2200" b="1">
                <a:solidFill>
                  <a:schemeClr val="tx1"/>
                </a:solidFill>
              </a:rPr>
              <a:t> (VBO)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1271129641" name=""/>
          <p:cNvSpPr txBox="1"/>
          <p:nvPr/>
        </p:nvSpPr>
        <p:spPr bwMode="auto">
          <a:xfrm flipH="0" flipV="0">
            <a:off x="6871846" y="3908657"/>
            <a:ext cx="2934810" cy="884279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600" b="0">
                <a:solidFill>
                  <a:schemeClr val="tx1"/>
                </a:solidFill>
              </a:rPr>
              <a:t>LOD0</a:t>
            </a:r>
            <a:endParaRPr sz="2600" b="1">
              <a:solidFill>
                <a:schemeClr val="tx1"/>
              </a:solidFill>
            </a:endParaRPr>
          </a:p>
          <a:p>
            <a:pPr marL="0" indent="0" algn="ctr">
              <a:buNone/>
              <a:defRPr/>
            </a:pPr>
            <a:r>
              <a:rPr sz="2600" b="1">
                <a:solidFill>
                  <a:schemeClr val="tx1"/>
                </a:solidFill>
              </a:rPr>
              <a:t>Instance buffer</a:t>
            </a:r>
            <a:endParaRPr sz="2600" b="1">
              <a:solidFill>
                <a:schemeClr val="tx1"/>
              </a:solidFill>
            </a:endParaRPr>
          </a:p>
        </p:txBody>
      </p:sp>
      <p:sp>
        <p:nvSpPr>
          <p:cNvPr id="1641991243" name=""/>
          <p:cNvSpPr txBox="1"/>
          <p:nvPr/>
        </p:nvSpPr>
        <p:spPr bwMode="auto">
          <a:xfrm flipH="0" flipV="0">
            <a:off x="737037" y="3829643"/>
            <a:ext cx="3183149" cy="457559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400" b="1">
                <a:solidFill>
                  <a:schemeClr val="tx1"/>
                </a:solidFill>
              </a:rPr>
              <a:t>Index buffer (EBO)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196150692" name=""/>
          <p:cNvSpPr txBox="1"/>
          <p:nvPr/>
        </p:nvSpPr>
        <p:spPr bwMode="auto">
          <a:xfrm flipH="0" flipV="0">
            <a:off x="3656621" y="701021"/>
            <a:ext cx="2183274" cy="979912"/>
          </a:xfrm>
          <a:prstGeom prst="flowChartAlternateProcess">
            <a:avLst/>
          </a:prstGeom>
          <a:solidFill>
            <a:schemeClr val="accent1">
              <a:alpha val="26998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600" b="1">
                <a:solidFill>
                  <a:schemeClr val="tx1"/>
                </a:solidFill>
              </a:rPr>
              <a:t>Compute shader</a:t>
            </a:r>
            <a:endParaRPr sz="2600" b="1">
              <a:solidFill>
                <a:schemeClr val="tx1"/>
              </a:solidFill>
            </a:endParaRPr>
          </a:p>
        </p:txBody>
      </p:sp>
      <p:cxnSp>
        <p:nvCxnSpPr>
          <p:cNvPr id="522275649" name=""/>
          <p:cNvCxnSpPr>
            <a:cxnSpLocks/>
          </p:cNvCxnSpPr>
          <p:nvPr/>
        </p:nvCxnSpPr>
        <p:spPr bwMode="auto">
          <a:xfrm rot="10799956" flipH="1" flipV="1">
            <a:off x="3048552" y="1190977"/>
            <a:ext cx="528571" cy="0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headEnd type="none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575742" name=""/>
          <p:cNvCxnSpPr>
            <a:cxnSpLocks/>
            <a:stCxn id="196150692" idx="3"/>
          </p:cNvCxnSpPr>
          <p:nvPr/>
        </p:nvCxnSpPr>
        <p:spPr bwMode="auto">
          <a:xfrm rot="0" flipH="0" flipV="0">
            <a:off x="5839896" y="1190978"/>
            <a:ext cx="1801101" cy="104420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headEnd type="none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521430" name=""/>
          <p:cNvSpPr txBox="1"/>
          <p:nvPr/>
        </p:nvSpPr>
        <p:spPr bwMode="auto">
          <a:xfrm flipH="0" flipV="0">
            <a:off x="4115497" y="3908657"/>
            <a:ext cx="2616629" cy="945239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800" b="1">
                <a:solidFill>
                  <a:schemeClr val="tx1"/>
                </a:solidFill>
              </a:rPr>
              <a:t>VAO</a:t>
            </a:r>
            <a:endParaRPr sz="2800" b="1">
              <a:solidFill>
                <a:schemeClr val="tx1"/>
              </a:solidFill>
            </a:endParaRPr>
          </a:p>
          <a:p>
            <a:pPr marL="394022" indent="-394022" algn="ctr">
              <a:buFont typeface="Arial"/>
              <a:buChar char="–"/>
              <a:defRPr/>
            </a:pPr>
            <a:r>
              <a:rPr sz="2800" b="0">
                <a:solidFill>
                  <a:schemeClr val="tx1"/>
                </a:solidFill>
              </a:rPr>
              <a:t>3D model</a:t>
            </a:r>
            <a:endParaRPr sz="2600" b="0">
              <a:solidFill>
                <a:schemeClr val="tx1"/>
              </a:solidFill>
            </a:endParaRPr>
          </a:p>
        </p:txBody>
      </p:sp>
      <p:sp>
        <p:nvSpPr>
          <p:cNvPr id="1559013486" name=""/>
          <p:cNvSpPr txBox="1"/>
          <p:nvPr/>
        </p:nvSpPr>
        <p:spPr bwMode="auto">
          <a:xfrm flipH="0" flipV="0">
            <a:off x="735238" y="6062983"/>
            <a:ext cx="3184228" cy="457559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400" b="1">
                <a:solidFill>
                  <a:schemeClr val="tx1"/>
                </a:solidFill>
              </a:rPr>
              <a:t>Vertex</a:t>
            </a:r>
            <a:r>
              <a:rPr sz="2400" b="1">
                <a:solidFill>
                  <a:schemeClr val="tx1"/>
                </a:solidFill>
              </a:rPr>
              <a:t> buffer</a:t>
            </a:r>
            <a:r>
              <a:rPr sz="2200" b="1">
                <a:solidFill>
                  <a:schemeClr val="tx1"/>
                </a:solidFill>
              </a:rPr>
              <a:t> (VBO)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1845108548" name=""/>
          <p:cNvSpPr txBox="1"/>
          <p:nvPr/>
        </p:nvSpPr>
        <p:spPr bwMode="auto">
          <a:xfrm flipH="0" flipV="0">
            <a:off x="735238" y="5435147"/>
            <a:ext cx="3183508" cy="457559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400" b="1">
                <a:solidFill>
                  <a:schemeClr val="tx1"/>
                </a:solidFill>
              </a:rPr>
              <a:t>Index buffer (EBO)</a:t>
            </a:r>
            <a:endParaRPr sz="2200">
              <a:solidFill>
                <a:schemeClr val="tx1"/>
              </a:solidFill>
            </a:endParaRPr>
          </a:p>
        </p:txBody>
      </p:sp>
      <p:sp>
        <p:nvSpPr>
          <p:cNvPr id="62599885" name=""/>
          <p:cNvSpPr txBox="1"/>
          <p:nvPr/>
        </p:nvSpPr>
        <p:spPr bwMode="auto">
          <a:xfrm flipH="0" flipV="0">
            <a:off x="4114418" y="5377003"/>
            <a:ext cx="2625629" cy="1371960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800" b="1">
                <a:solidFill>
                  <a:schemeClr val="tx1"/>
                </a:solidFill>
              </a:rPr>
              <a:t>VAO</a:t>
            </a:r>
            <a:endParaRPr sz="2800" b="1">
              <a:solidFill>
                <a:schemeClr val="tx1"/>
              </a:solidFill>
            </a:endParaRPr>
          </a:p>
          <a:p>
            <a:pPr marL="394021" indent="-394021" algn="ctr">
              <a:buFont typeface="Arial"/>
              <a:buChar char="–"/>
              <a:defRPr/>
            </a:pPr>
            <a:r>
              <a:rPr sz="2800" b="0">
                <a:solidFill>
                  <a:schemeClr val="tx1"/>
                </a:solidFill>
              </a:rPr>
              <a:t>crossQuad</a:t>
            </a:r>
            <a:endParaRPr sz="2800" b="0">
              <a:solidFill>
                <a:schemeClr val="tx1"/>
              </a:solidFill>
            </a:endParaRPr>
          </a:p>
          <a:p>
            <a:pPr marL="0" indent="0" algn="ctr">
              <a:buNone/>
              <a:defRPr/>
            </a:pPr>
            <a:r>
              <a:rPr sz="2800" b="0">
                <a:solidFill>
                  <a:schemeClr val="tx1"/>
                </a:solidFill>
              </a:rPr>
              <a:t>(billboard)</a:t>
            </a:r>
            <a:endParaRPr sz="2600">
              <a:solidFill>
                <a:schemeClr val="tx1"/>
              </a:solidFill>
            </a:endParaRPr>
          </a:p>
        </p:txBody>
      </p:sp>
      <p:sp>
        <p:nvSpPr>
          <p:cNvPr id="256114548" name=""/>
          <p:cNvSpPr txBox="1"/>
          <p:nvPr/>
        </p:nvSpPr>
        <p:spPr bwMode="auto">
          <a:xfrm flipH="0" flipV="0">
            <a:off x="116261" y="805441"/>
            <a:ext cx="2933730" cy="884279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600" b="0">
                <a:solidFill>
                  <a:schemeClr val="tx1"/>
                </a:solidFill>
              </a:rPr>
              <a:t>source</a:t>
            </a:r>
            <a:endParaRPr sz="2600" b="1">
              <a:solidFill>
                <a:schemeClr val="tx1"/>
              </a:solidFill>
            </a:endParaRPr>
          </a:p>
          <a:p>
            <a:pPr marL="0" indent="0" algn="ctr">
              <a:buNone/>
              <a:defRPr/>
            </a:pPr>
            <a:r>
              <a:rPr sz="2600" b="1">
                <a:solidFill>
                  <a:schemeClr val="tx1"/>
                </a:solidFill>
              </a:rPr>
              <a:t>Instance buffer</a:t>
            </a:r>
            <a:endParaRPr sz="2600" b="1">
              <a:solidFill>
                <a:schemeClr val="tx1"/>
              </a:solidFill>
            </a:endParaRPr>
          </a:p>
        </p:txBody>
      </p:sp>
      <p:sp>
        <p:nvSpPr>
          <p:cNvPr id="232795611" name=""/>
          <p:cNvSpPr txBox="1"/>
          <p:nvPr/>
        </p:nvSpPr>
        <p:spPr bwMode="auto">
          <a:xfrm flipH="0" flipV="0">
            <a:off x="6870766" y="5435147"/>
            <a:ext cx="2935890" cy="884279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600" b="0">
                <a:solidFill>
                  <a:schemeClr val="tx1"/>
                </a:solidFill>
              </a:rPr>
              <a:t>LOD1</a:t>
            </a:r>
            <a:endParaRPr sz="2600" b="1">
              <a:solidFill>
                <a:schemeClr val="tx1"/>
              </a:solidFill>
            </a:endParaRPr>
          </a:p>
          <a:p>
            <a:pPr marL="0" indent="0" algn="ctr">
              <a:buNone/>
              <a:defRPr/>
            </a:pPr>
            <a:r>
              <a:rPr sz="2600" b="1">
                <a:solidFill>
                  <a:schemeClr val="tx1"/>
                </a:solidFill>
              </a:rPr>
              <a:t>Instance buffer</a:t>
            </a:r>
            <a:endParaRPr sz="2600" b="1">
              <a:solidFill>
                <a:schemeClr val="tx1"/>
              </a:solidFill>
            </a:endParaRPr>
          </a:p>
        </p:txBody>
      </p:sp>
      <p:sp>
        <p:nvSpPr>
          <p:cNvPr id="1674717370" name=""/>
          <p:cNvSpPr txBox="1"/>
          <p:nvPr/>
        </p:nvSpPr>
        <p:spPr bwMode="auto">
          <a:xfrm flipH="0" flipV="0">
            <a:off x="7693908" y="741817"/>
            <a:ext cx="4047803" cy="1280520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600" b="0">
                <a:solidFill>
                  <a:schemeClr val="tx1"/>
                </a:solidFill>
              </a:rPr>
              <a:t>data pro indirect draw-call</a:t>
            </a:r>
            <a:endParaRPr sz="2600" b="0">
              <a:solidFill>
                <a:schemeClr val="tx1"/>
              </a:solidFill>
            </a:endParaRPr>
          </a:p>
          <a:p>
            <a:pPr marL="371993" indent="-371993" algn="ctr">
              <a:buFont typeface="Arial"/>
              <a:buChar char="–"/>
              <a:defRPr/>
            </a:pPr>
            <a:r>
              <a:rPr sz="2600" b="1">
                <a:solidFill>
                  <a:schemeClr val="tx1"/>
                </a:solidFill>
              </a:rPr>
              <a:t>instanceCount</a:t>
            </a:r>
            <a:endParaRPr sz="2600" b="1">
              <a:solidFill>
                <a:schemeClr val="tx1"/>
              </a:solidFill>
            </a:endParaRPr>
          </a:p>
        </p:txBody>
      </p:sp>
      <p:cxnSp>
        <p:nvCxnSpPr>
          <p:cNvPr id="254828194" name=""/>
          <p:cNvCxnSpPr>
            <a:cxnSpLocks/>
            <a:stCxn id="196150692" idx="3"/>
          </p:cNvCxnSpPr>
          <p:nvPr/>
        </p:nvCxnSpPr>
        <p:spPr bwMode="auto">
          <a:xfrm rot="0" flipH="0" flipV="0">
            <a:off x="5839896" y="1190978"/>
            <a:ext cx="1686802" cy="2676171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headEnd type="none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8762437" name=""/>
          <p:cNvSpPr txBox="1"/>
          <p:nvPr/>
        </p:nvSpPr>
        <p:spPr bwMode="auto">
          <a:xfrm flipH="0" flipV="0">
            <a:off x="7964848" y="2294813"/>
            <a:ext cx="4079217" cy="540802"/>
          </a:xfrm>
          <a:prstGeom prst="flowChartAlternateProcess">
            <a:avLst/>
          </a:prstGeom>
          <a:solidFill>
            <a:schemeClr val="accent1">
              <a:alpha val="26998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>
              <a:buNone/>
              <a:defRPr/>
            </a:pPr>
            <a:r>
              <a:rPr lang="cs-CZ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glDrawElementsIndirect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827456271" name=""/>
          <p:cNvSpPr txBox="1"/>
          <p:nvPr/>
        </p:nvSpPr>
        <p:spPr bwMode="auto">
          <a:xfrm flipH="0" flipV="0">
            <a:off x="5335866" y="2009976"/>
            <a:ext cx="2190833" cy="1419022"/>
          </a:xfrm>
          <a:prstGeom prst="flowChartAlternateProcess">
            <a:avLst/>
          </a:prstGeom>
          <a:solidFill>
            <a:schemeClr val="accent5">
              <a:alpha val="71000"/>
            </a:schemeClr>
          </a:solidFill>
          <a:ln w="12700">
            <a:solidFill>
              <a:srgbClr val="000000"/>
            </a:solidFill>
            <a:prstDash val="lgDash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600" b="1">
                <a:solidFill>
                  <a:schemeClr val="tx1"/>
                </a:solidFill>
              </a:rPr>
              <a:t>View Frustum Culling</a:t>
            </a:r>
            <a:endParaRPr sz="2600" b="1">
              <a:solidFill>
                <a:schemeClr val="tx1"/>
              </a:solidFill>
            </a:endParaRPr>
          </a:p>
        </p:txBody>
      </p:sp>
      <p:sp>
        <p:nvSpPr>
          <p:cNvPr id="707155444" name=""/>
          <p:cNvSpPr txBox="1"/>
          <p:nvPr/>
        </p:nvSpPr>
        <p:spPr bwMode="auto">
          <a:xfrm flipH="0" flipV="0">
            <a:off x="643033" y="2215141"/>
            <a:ext cx="2949570" cy="884279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ctr">
              <a:buNone/>
              <a:defRPr/>
            </a:pPr>
            <a:r>
              <a:rPr sz="2600" b="0">
                <a:solidFill>
                  <a:schemeClr val="tx1"/>
                </a:solidFill>
              </a:rPr>
              <a:t>camera position </a:t>
            </a:r>
            <a:br>
              <a:rPr sz="2600" b="0">
                <a:solidFill>
                  <a:schemeClr val="tx1"/>
                </a:solidFill>
              </a:rPr>
            </a:br>
            <a:r>
              <a:rPr sz="2600" b="0">
                <a:solidFill>
                  <a:schemeClr val="tx1"/>
                </a:solidFill>
              </a:rPr>
              <a:t>+ frustum planes</a:t>
            </a:r>
            <a:endParaRPr sz="2600" b="1">
              <a:solidFill>
                <a:schemeClr val="tx1"/>
              </a:solidFill>
            </a:endParaRPr>
          </a:p>
        </p:txBody>
      </p:sp>
      <p:cxnSp>
        <p:nvCxnSpPr>
          <p:cNvPr id="1087304563" name=""/>
          <p:cNvCxnSpPr>
            <a:cxnSpLocks/>
          </p:cNvCxnSpPr>
          <p:nvPr/>
        </p:nvCxnSpPr>
        <p:spPr bwMode="auto">
          <a:xfrm rot="10799956" flipH="1" flipV="0">
            <a:off x="3145199" y="1619250"/>
            <a:ext cx="511423" cy="595530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headEnd type="none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229684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3200"/>
            </a:lvl1pPr>
          </a:lstStyle>
          <a:p>
            <a:pPr>
              <a:defRPr/>
            </a:pPr>
            <a:r>
              <a:rPr/>
              <a:t>Stíny – Shadow mapping</a:t>
            </a:r>
            <a:endParaRPr/>
          </a:p>
        </p:txBody>
      </p:sp>
      <p:sp>
        <p:nvSpPr>
          <p:cNvPr id="279022568" name="Zástupný symbol pro obsah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Render na dva běhy</a:t>
            </a:r>
            <a:endParaRPr/>
          </a:p>
          <a:p>
            <a:pPr lvl="1">
              <a:defRPr/>
            </a:pPr>
            <a:r>
              <a:rPr/>
              <a:t>Render hloubkové mapy z pohledu světla</a:t>
            </a:r>
            <a:endParaRPr/>
          </a:p>
          <a:p>
            <a:pPr lvl="1">
              <a:defRPr/>
            </a:pPr>
            <a:r>
              <a:rPr/>
              <a:t>Render scény a výpočet stínů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Statická scéna – stíny lze “předpočítat”</a:t>
            </a:r>
            <a:endParaRPr/>
          </a:p>
          <a:p>
            <a:pPr lvl="1">
              <a:defRPr/>
            </a:pPr>
            <a:r>
              <a:rPr/>
              <a:t>Na </a:t>
            </a:r>
            <a:r>
              <a:rPr b="1"/>
              <a:t>začátku programu</a:t>
            </a:r>
            <a:r>
              <a:rPr/>
              <a:t> render shadow mapy</a:t>
            </a:r>
            <a:endParaRPr/>
          </a:p>
          <a:p>
            <a:pPr lvl="2">
              <a:defRPr/>
            </a:pPr>
            <a:r>
              <a:rPr/>
              <a:t>Vyšší rozlišení</a:t>
            </a:r>
            <a:endParaRPr/>
          </a:p>
          <a:p>
            <a:pPr lvl="2">
              <a:defRPr/>
            </a:pPr>
            <a:r>
              <a:rPr/>
              <a:t>Plné 3D modely stromů</a:t>
            </a:r>
            <a:endParaRPr/>
          </a:p>
          <a:p>
            <a:pPr lvl="1">
              <a:defRPr/>
            </a:pPr>
            <a:endParaRPr/>
          </a:p>
          <a:p>
            <a:pPr lvl="1">
              <a:defRPr/>
            </a:pPr>
            <a:r>
              <a:rPr/>
              <a:t>Stín zůstává stejný i pro billboard</a:t>
            </a:r>
            <a:endParaRPr/>
          </a:p>
        </p:txBody>
      </p:sp>
      <p:sp>
        <p:nvSpPr>
          <p:cNvPr id="1195373726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31781-01F5-4C65-AFBD-7F8A648A3AEF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778562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3200"/>
            </a:lvl1pPr>
          </a:lstStyle>
          <a:p>
            <a:pPr>
              <a:defRPr/>
            </a:pPr>
            <a:r>
              <a:rPr/>
              <a:t>Vizuální kvalita - 2. nahlédnutí</a:t>
            </a:r>
            <a:endParaRPr/>
          </a:p>
        </p:txBody>
      </p:sp>
      <p:sp>
        <p:nvSpPr>
          <p:cNvPr id="520333800" name="Zástupný symbol pro obsah 2"/>
          <p:cNvSpPr>
            <a:spLocks noGrp="1"/>
          </p:cNvSpPr>
          <p:nvPr>
            <p:ph idx="1"/>
          </p:nvPr>
        </p:nvSpPr>
        <p:spPr bwMode="auto">
          <a:xfrm flipH="0" flipV="0">
            <a:off x="8174399" y="765174"/>
            <a:ext cx="3778417" cy="6034716"/>
          </a:xfrm>
        </p:spPr>
        <p:txBody>
          <a:bodyPr/>
          <a:lstStyle/>
          <a:p>
            <a:pPr>
              <a:defRPr/>
            </a:pPr>
            <a:r>
              <a:rPr/>
              <a:t>Billboardy jsou otřesné</a:t>
            </a:r>
            <a:endParaRPr/>
          </a:p>
          <a:p>
            <a:pPr>
              <a:defRPr/>
            </a:pPr>
            <a:r>
              <a:rPr/>
              <a:t>Chybějí stíny</a:t>
            </a:r>
            <a:endParaRPr/>
          </a:p>
        </p:txBody>
      </p:sp>
      <p:sp>
        <p:nvSpPr>
          <p:cNvPr id="2090584635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C25D95-A52F-E810-6AA7-16AAA5A09F5C}" type="slidenum">
              <a:rPr lang="en-US"/>
              <a:t/>
            </a:fld>
            <a:endParaRPr lang="en-US"/>
          </a:p>
        </p:txBody>
      </p:sp>
      <p:pic>
        <p:nvPicPr>
          <p:cNvPr id="141130561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63126" y="676275"/>
            <a:ext cx="7706418" cy="5848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50514" name="Nadpis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3200"/>
            </a:lvl1pPr>
          </a:lstStyle>
          <a:p>
            <a:pPr>
              <a:defRPr/>
            </a:pPr>
            <a:r>
              <a:rPr lang="en-US" sz="3200" b="0" i="0" u="none" strike="noStrike" cap="none" spc="0">
                <a:solidFill>
                  <a:srgbClr val="00A9E0"/>
                </a:solidFill>
                <a:latin typeface="Calibri"/>
                <a:ea typeface="Calibri"/>
                <a:cs typeface="Calibri"/>
              </a:rPr>
              <a:t>Vizuální kvalita – finální odevzdání</a:t>
            </a:r>
            <a:endParaRPr/>
          </a:p>
        </p:txBody>
      </p:sp>
      <p:sp>
        <p:nvSpPr>
          <p:cNvPr id="30443207" name="Rectangle 6"/>
          <p:cNvSpPr>
            <a:spLocks noChangeArrowheads="1" noGrp="1"/>
          </p:cNvSpPr>
          <p:nvPr>
            <p:ph type="sldNum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43560F-057C-AB13-1373-76DD6E82FF26}" type="slidenum">
              <a:rPr lang="en-US"/>
              <a:t/>
            </a:fld>
            <a:endParaRPr lang="en-US"/>
          </a:p>
        </p:txBody>
      </p:sp>
      <p:pic>
        <p:nvPicPr>
          <p:cNvPr id="1767406699" name=""/>
          <p:cNvPicPr>
            <a:picLocks noChangeAspect="1"/>
          </p:cNvPicPr>
          <p:nvPr/>
        </p:nvPicPr>
        <p:blipFill>
          <a:blip r:embed="rId3"/>
          <a:srcRect l="13617" t="0" r="0" b="0"/>
          <a:stretch/>
        </p:blipFill>
        <p:spPr bwMode="auto">
          <a:xfrm flipH="0" flipV="0">
            <a:off x="154350" y="620712"/>
            <a:ext cx="8942891" cy="5799136"/>
          </a:xfrm>
          <a:prstGeom prst="rect">
            <a:avLst/>
          </a:prstGeom>
        </p:spPr>
      </p:pic>
      <p:sp>
        <p:nvSpPr>
          <p:cNvPr id="26088881" name="Zástupný symbol pro obsah 2"/>
          <p:cNvSpPr>
            <a:spLocks noGrp="1"/>
          </p:cNvSpPr>
          <p:nvPr>
            <p:ph idx="1"/>
          </p:nvPr>
        </p:nvSpPr>
        <p:spPr bwMode="auto">
          <a:xfrm flipH="0" flipV="0">
            <a:off x="9097241" y="765174"/>
            <a:ext cx="3115758" cy="6034716"/>
          </a:xfrm>
        </p:spPr>
        <p:txBody>
          <a:bodyPr/>
          <a:lstStyle/>
          <a:p>
            <a:pPr>
              <a:defRPr/>
            </a:pPr>
            <a:r>
              <a:rPr/>
              <a:t>Stíny</a:t>
            </a:r>
            <a:endParaRPr/>
          </a:p>
          <a:p>
            <a:pPr>
              <a:defRPr/>
            </a:pPr>
            <a:r>
              <a:rPr/>
              <a:t>Global illumination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322402" name="Rectangle 5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1958976"/>
            <a:ext cx="7464151" cy="1254124"/>
          </a:xfrm>
        </p:spPr>
        <p:txBody>
          <a:bodyPr/>
          <a:lstStyle>
            <a:lvl1pPr algn="r">
              <a:defRPr sz="44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Děkuji za pozornost</a:t>
            </a:r>
            <a:endParaRPr/>
          </a:p>
        </p:txBody>
      </p:sp>
      <p:sp>
        <p:nvSpPr>
          <p:cNvPr id="832200009" name=""/>
          <p:cNvSpPr txBox="1"/>
          <p:nvPr/>
        </p:nvSpPr>
        <p:spPr bwMode="auto">
          <a:xfrm flipH="0" flipV="0">
            <a:off x="101049" y="5882639"/>
            <a:ext cx="8283619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/>
              <a:t>Zdrojové kódy:</a:t>
            </a:r>
            <a:endParaRPr lang="en-US"/>
          </a:p>
          <a:p>
            <a:pPr lvl="1" algn="l">
              <a:defRPr/>
            </a:pPr>
            <a:r>
              <a:rPr lang="en-US" b="0" i="0" u="sng" strike="noStrike" cap="none" spc="0">
                <a:solidFill>
                  <a:schemeClr val="tx1"/>
                </a:solidFill>
                <a:latin typeface="Calibri"/>
                <a:cs typeface="Calibri"/>
                <a:hlinkClick r:id="rId2" tooltip="https://github.com/charvotj/PGR-landscape-generator"/>
              </a:rPr>
              <a:t>https://github.com/charvotj/PGR-landscape-generator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01021 FIT Calibri">
  <a:themeElements>
    <a:clrScheme name="a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2">
      <a:majorFont>
        <a:latin typeface="Tahoma"/>
        <a:ea typeface="Arial"/>
        <a:cs typeface="Arial"/>
      </a:majorFont>
      <a:minorFont>
        <a:latin typeface="Tahoma"/>
        <a:ea typeface="Arial"/>
        <a:cs typeface="Arial"/>
      </a:minorFont>
    </a:fontScheme>
    <a:fmtScheme name="Kancelář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noFill/>
        <a:ln w="19050" cap="flat" cmpd="sng" algn="ctr">
          <a:solidFill>
            <a:schemeClr val="accent6">
              <a:lumMod val="75000"/>
            </a:schemeClr>
          </a:solidFill>
          <a:prstDash val="solid"/>
          <a:round/>
          <a:headEnd type="none" w="med" len="med"/>
          <a:tailEnd type="none" w="med" len="med"/>
        </a:ln>
      </a:spPr>
      <a:bodyPr/>
      <a:lstStyle/>
    </a:spDef>
    <a:lnDef>
      <a:spPr bwMode="auto">
        <a:prstGeom prst="rect">
          <a:avLst/>
        </a:prstGeom>
        <a:noFill/>
        <a:ln w="28575" cap="flat" cmpd="sng" algn="ctr">
          <a:solidFill>
            <a:schemeClr val="accent6">
              <a:lumMod val="75000"/>
            </a:schemeClr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 bwMode="auto">
        <a:prstGeom prst="rect">
          <a:avLst/>
        </a:prstGeom>
        <a:noFill/>
      </a:spPr>
      <a:bodyPr/>
      <a:lstStyle/>
    </a:txDef>
  </a:objectDefaults>
  <a:extraClrSchemeLst>
    <a:extraClrScheme>
      <a:clrScheme name="a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Kancelář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UXI Slides Template</Template>
  <TotalTime>0</TotalTime>
  <Words>0</Words>
  <Application>ONLYOFFICE/7.3.0.184</Application>
  <DocSecurity>0</DocSecurity>
  <PresentationFormat>Widescreen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>Hewlett-Packard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Essay Title</dc:title>
  <dc:subject/>
  <dc:creator>Herout Adam (11830)</dc:creator>
  <cp:keywords/>
  <dc:description/>
  <dc:identifier/>
  <dc:language/>
  <cp:lastModifiedBy/>
  <cp:revision>3</cp:revision>
  <dcterms:created xsi:type="dcterms:W3CDTF">2024-02-29T17:22:27Z</dcterms:created>
  <dcterms:modified xsi:type="dcterms:W3CDTF">2026-01-20T21:24:02Z</dcterms:modified>
  <cp:category/>
  <cp:contentStatus/>
  <cp:version/>
</cp:coreProperties>
</file>